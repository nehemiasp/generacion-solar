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Esperada</c:v>
                </c:pt>
              </c:strCache>
            </c:strRef>
          </c:tx>
          <c:spPr>
            <a:solidFill>
              <a:srgbClr val="8D9698"/>
            </a:solidFill>
            <a:ln w="19050" cap="flat">
              <a:solidFill>
                <a:srgbClr val="8D969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D9698"/>
              </a:solidFill>
              <a:ln w="9525" cap="flat">
                <a:solidFill>
                  <a:srgbClr val="8D96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sep 25</c:v>
                  </c:pt>
                  <c:pt idx="1">
                    <c:v>oct 25</c:v>
                  </c:pt>
                  <c:pt idx="2">
                    <c:v>nov 25</c:v>
                  </c:pt>
                  <c:pt idx="3">
                    <c:v>dic 25</c:v>
                  </c:pt>
                  <c:pt idx="4">
                    <c:v>ene 26</c:v>
                  </c:pt>
                  <c:pt idx="5">
                    <c:v>feb 26</c:v>
                  </c:pt>
                  <c:pt idx="6">
                    <c:v>mar 26</c:v>
                  </c:pt>
                  <c:pt idx="7">
                    <c:v>abr 26</c:v>
                  </c:pt>
                  <c:pt idx="8">
                    <c:v>may 26</c:v>
                  </c:pt>
                  <c:pt idx="9">
                    <c:v>jun 26</c:v>
                  </c:pt>
                  <c:pt idx="10">
                    <c:v>jul 26</c:v>
                  </c:pt>
                  <c:pt idx="11">
                    <c:v>ago 26</c:v>
                  </c:pt>
                  <c:pt idx="12">
                    <c:v>sep 26</c:v>
                  </c:pt>
                  <c:pt idx="13">
                    <c:v>oct 26</c:v>
                  </c:pt>
                  <c:pt idx="14">
                    <c:v>nov 26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414432</c:v>
                </c:pt>
                <c:pt idx="1">
                  <c:v>414432</c:v>
                </c:pt>
                <c:pt idx="2">
                  <c:v>527458</c:v>
                </c:pt>
                <c:pt idx="3">
                  <c:v>527458</c:v>
                </c:pt>
                <c:pt idx="4">
                  <c:v>527458</c:v>
                </c:pt>
                <c:pt idx="5">
                  <c:v>527458</c:v>
                </c:pt>
                <c:pt idx="6">
                  <c:v>527458</c:v>
                </c:pt>
                <c:pt idx="7">
                  <c:v>527458</c:v>
                </c:pt>
                <c:pt idx="8">
                  <c:v>414432</c:v>
                </c:pt>
                <c:pt idx="9">
                  <c:v>414432</c:v>
                </c:pt>
                <c:pt idx="10">
                  <c:v>414432</c:v>
                </c:pt>
                <c:pt idx="11">
                  <c:v>414432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1B2426"/>
            </a:solidFill>
            <a:ln w="31750" cap="flat">
              <a:solidFill>
                <a:srgbClr val="1B24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2426"/>
              </a:solidFill>
              <a:ln w="9525" cap="flat">
                <a:solidFill>
                  <a:srgbClr val="1B24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sep 25</c:v>
                  </c:pt>
                  <c:pt idx="1">
                    <c:v>oct 25</c:v>
                  </c:pt>
                  <c:pt idx="2">
                    <c:v>nov 25</c:v>
                  </c:pt>
                  <c:pt idx="3">
                    <c:v>dic 25</c:v>
                  </c:pt>
                  <c:pt idx="4">
                    <c:v>ene 26</c:v>
                  </c:pt>
                  <c:pt idx="5">
                    <c:v>feb 26</c:v>
                  </c:pt>
                  <c:pt idx="6">
                    <c:v>mar 26</c:v>
                  </c:pt>
                  <c:pt idx="7">
                    <c:v>abr 26</c:v>
                  </c:pt>
                  <c:pt idx="8">
                    <c:v>may 26</c:v>
                  </c:pt>
                  <c:pt idx="9">
                    <c:v>jun 26</c:v>
                  </c:pt>
                  <c:pt idx="10">
                    <c:v>jul 26</c:v>
                  </c:pt>
                  <c:pt idx="11">
                    <c:v>ago 26</c:v>
                  </c:pt>
                  <c:pt idx="12">
                    <c:v>sep 26</c:v>
                  </c:pt>
                  <c:pt idx="13">
                    <c:v>oct 26</c:v>
                  </c:pt>
                  <c:pt idx="14">
                    <c:v>nov 26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449314</c:v>
                </c:pt>
                <c:pt idx="1">
                  <c:v>436675</c:v>
                </c:pt>
                <c:pt idx="2">
                  <c:v>550920</c:v>
                </c:pt>
                <c:pt idx="3">
                  <c:v>538991</c:v>
                </c:pt>
                <c:pt idx="4">
                  <c:v>532960</c:v>
                </c:pt>
                <c:pt idx="5">
                  <c:v>574832</c:v>
                </c:pt>
                <c:pt idx="6">
                  <c:v>524043</c:v>
                </c:pt>
                <c:pt idx="7">
                  <c:v>535973</c:v>
                </c:pt>
                <c:pt idx="8">
                  <c:v>442202</c:v>
                </c:pt>
                <c:pt idx="9">
                  <c:v>281814</c:v>
                </c:pt>
                <c:pt idx="10">
                  <c:v>265236</c:v>
                </c:pt>
                <c:pt idx="11">
                  <c:v>232082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Proyección</c:v>
                </c:pt>
              </c:strCache>
            </c:strRef>
          </c:tx>
          <c:spPr>
            <a:solidFill>
              <a:srgbClr val="A9831A"/>
            </a:solidFill>
            <a:ln w="31750" cap="flat">
              <a:solidFill>
                <a:srgbClr val="A9831A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A9831A"/>
              </a:solidFill>
              <a:ln w="9525" cap="flat">
                <a:solidFill>
                  <a:srgbClr val="A983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sep 25</c:v>
                  </c:pt>
                  <c:pt idx="1">
                    <c:v>oct 25</c:v>
                  </c:pt>
                  <c:pt idx="2">
                    <c:v>nov 25</c:v>
                  </c:pt>
                  <c:pt idx="3">
                    <c:v>dic 25</c:v>
                  </c:pt>
                  <c:pt idx="4">
                    <c:v>ene 26</c:v>
                  </c:pt>
                  <c:pt idx="5">
                    <c:v>feb 26</c:v>
                  </c:pt>
                  <c:pt idx="6">
                    <c:v>mar 26</c:v>
                  </c:pt>
                  <c:pt idx="7">
                    <c:v>abr 26</c:v>
                  </c:pt>
                  <c:pt idx="8">
                    <c:v>may 26</c:v>
                  </c:pt>
                  <c:pt idx="9">
                    <c:v>jun 26</c:v>
                  </c:pt>
                  <c:pt idx="10">
                    <c:v>jul 26</c:v>
                  </c:pt>
                  <c:pt idx="11">
                    <c:v>ago 26</c:v>
                  </c:pt>
                  <c:pt idx="12">
                    <c:v>sep 26</c:v>
                  </c:pt>
                  <c:pt idx="13">
                    <c:v>oct 26</c:v>
                  </c:pt>
                  <c:pt idx="14">
                    <c:v>nov 26</c:v>
                  </c:pt>
                </c:lvl>
              </c:multiLvlStrCache>
            </c:multiLvl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232082</c:v>
                </c:pt>
                <c:pt idx="12">
                  <c:v>302952</c:v>
                </c:pt>
                <c:pt idx="13">
                  <c:v>280777</c:v>
                </c:pt>
                <c:pt idx="14">
                  <c:v>258602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0DE"/>
              </a:solidFill>
              <a:prstDash val="solid"/>
              <a:round/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656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un sistema para monitorear la generación solar del país por departamento. Dos minutos de contexto y arquitectura, luego demostración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reto pide registro, análisis, mapa, alertas y proyección. Decidimos separar lo que se captura de lo que se calcula: nada derivado se guarda en la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Filament nos dio el CRUD y las validaciones. El análisis lo construimos aparte en Blade porque un panel administrativo no comunica bien un tablero de operación.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típica del jurado: por qué no guardaron la capacidad instalada. Porque es un dato derivado y guardarlo introduce riesgo de desincronización. Lo resolvemos con subconsultas, sin N+1.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línea punteada es la generación esperada. Se ve de un vistazo que el verano seco de noviembre a abril genera más, y que los últimos tres meses caen por debajo de lo esperado.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mapa consume el mismo endpoint público que cualquier cliente. El filtro oculta marcadores en el navegador, sin ida y vuelta al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observador corre en el guardado del modelo. Para cargas masivas, que no disparan eventos, existe el comando artisan que reevalúa las 630 generaciones.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Además de proyectar, el sistema se audita: para cada mes con dato real recalcula qué habría proyectado usando solo lo anterior y reporta el error. Esa tabla está en la ficha de cada granja.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Scramble lee los tipos y anotaciones de los controladores y genera el OpenAPI. Si cambiamos un parámetro, la documentación cambia con él.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IA es rápida escribiendo y mala decidiendo. Escribimos primero las reglas del proyecto en CLAUDE.md y el sistema de diseño, y con eso el resultado deja de ser genérico.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la demostración en vivo: crear una generación por debajo del umbral y ver aparecer la alerta sola en el tablero.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51560"/>
            <a:ext cx="457200" cy="128016"/>
          </a:xfrm>
          <a:prstGeom prst="rect">
            <a:avLst/>
          </a:prstGeom>
          <a:solidFill>
            <a:srgbClr val="EFE7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051560"/>
            <a:ext cx="457200" cy="128016"/>
          </a:xfrm>
          <a:prstGeom prst="rect">
            <a:avLst/>
          </a:prstGeom>
          <a:solidFill>
            <a:srgbClr val="E0C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051560"/>
            <a:ext cx="457200" cy="128016"/>
          </a:xfrm>
          <a:prstGeom prst="rect">
            <a:avLst/>
          </a:prstGeom>
          <a:solidFill>
            <a:srgbClr val="CFA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051560"/>
            <a:ext cx="457200" cy="128016"/>
          </a:xfrm>
          <a:prstGeom prst="rect">
            <a:avLst/>
          </a:prstGeom>
          <a:solidFill>
            <a:srgbClr val="A98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1051560"/>
            <a:ext cx="457200" cy="128016"/>
          </a:xfrm>
          <a:prstGeom prst="rect">
            <a:avLst/>
          </a:prstGeom>
          <a:solidFill>
            <a:srgbClr val="7559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6304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solar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departamento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54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C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registro y monitoreo para los 22 departamentos de Guatemala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576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de Programación con IA · Laravel 13 · 11 y 12 de septiembre de 2026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31546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1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había que resolver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92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activos solares, medir su desempeño real y detectar dónde está fallando la generación.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243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6276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396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37744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granja se asocia a uno, con coordenadas propias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64408" y="1463040"/>
            <a:ext cx="26243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65576" y="16276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465576" y="21396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65576" y="237744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catálogo de departamentos a la proyección de generación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71616" y="1463040"/>
            <a:ext cx="26243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72784" y="16276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21396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72784" y="237744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base de datos vacía a la aplicación desplegada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632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sistema calcula solo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31012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instalada, a partir de los paneles de cada granja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evitado, a 0.40 kg por kWh generado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 entre generación real y esperada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30632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sistema vigila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331012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cuando la generación real cae al 80% de la esperada o menos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 los próximos meses con su margen de error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del reto, secciones 4 y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92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panel interno para capturar y un frontend propio para analizar. Comparten modelos y servicios, no vistas.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5074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81328"/>
            <a:ext cx="91440" cy="731520"/>
          </a:xfrm>
          <a:prstGeom prst="rect">
            <a:avLst/>
          </a:prstGeom>
          <a:solidFill>
            <a:srgbClr val="CFA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5819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563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Filament 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82880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granjas, paneles y generación, con validación y relación de paneles por granja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22576"/>
            <a:ext cx="5074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22576"/>
            <a:ext cx="91440" cy="731520"/>
          </a:xfrm>
          <a:prstGeom prst="rect">
            <a:avLst/>
          </a:prstGeom>
          <a:solidFill>
            <a:srgbClr val="A98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2423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404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de Laravel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67004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AlertaService, ProyeccionService y EstadisticasService. Toda la regla de negocio vive aquí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5074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63824"/>
            <a:ext cx="91440" cy="731520"/>
          </a:xfrm>
          <a:prstGeom prst="rect">
            <a:avLst/>
          </a:prstGeom>
          <a:solidFill>
            <a:srgbClr val="7559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" y="32644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3246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Blade y API REST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51129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Tablero, mapa, reporte y ficha pública; trece endpoints bajo /api/v1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06440" y="1481328"/>
            <a:ext cx="288036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07608" y="16459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007608" y="1956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967728" y="19568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13, PHP 8.4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007608" y="22128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967728" y="22128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007608" y="24688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967728" y="24688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Filament 5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007608" y="27249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967728" y="27249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y Tailwind 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007608" y="298094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967728" y="298094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Leaflet, sin API key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007608" y="323697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967728" y="323697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007608" y="3493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de API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967728" y="34930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Scramble, OpenAPI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0690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Filament resuelve el CRUD en horas; el frontend público es propio porque ahí se juega la lectura de los datos.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pruebas automatizadas, 71 aserciones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datos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92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tablas. Lo que se puede derivar de otra tabla no se guarda como columna.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1920240" cy="54864"/>
          </a:xfrm>
          <a:prstGeom prst="rect">
            <a:avLst/>
          </a:prstGeom>
          <a:solidFill>
            <a:srgbClr val="E0C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" y="1591056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departamentos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84708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registros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cabecera, centroide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97480" y="1463040"/>
            <a:ext cx="2011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97480" y="1463040"/>
            <a:ext cx="2011680" cy="54864"/>
          </a:xfrm>
          <a:prstGeom prst="rect">
            <a:avLst/>
          </a:prstGeom>
          <a:solidFill>
            <a:srgbClr val="A98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25496" y="159105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granjas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825496" y="184708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ubicación, familias,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esperada mensual, activa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74920" y="1463040"/>
            <a:ext cx="1828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1463040"/>
            <a:ext cx="1828800" cy="54864"/>
          </a:xfrm>
          <a:prstGeom prst="rect">
            <a:avLst/>
          </a:prstGeom>
          <a:solidFill>
            <a:srgbClr val="CFA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02936" y="159105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granja_panel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202936" y="184708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panel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cantidad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69480" y="1463040"/>
            <a:ext cx="14173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1463040"/>
            <a:ext cx="1417320" cy="54864"/>
          </a:xfrm>
          <a:prstGeom prst="rect">
            <a:avLst/>
          </a:prstGeom>
          <a:solidFill>
            <a:srgbClr val="E0C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97496" y="1591056"/>
            <a:ext cx="116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modelos_panel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397496" y="1847088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marca, modelo,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kW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97480" y="2487168"/>
            <a:ext cx="2011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7480" y="2487168"/>
            <a:ext cx="2011680" cy="54864"/>
          </a:xfrm>
          <a:prstGeom prst="rect">
            <a:avLst/>
          </a:prstGeom>
          <a:solidFill>
            <a:srgbClr val="7559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25496" y="261518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generaciones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825496" y="2871216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mensual,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y esperada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74920" y="2487168"/>
            <a:ext cx="1828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74920" y="2487168"/>
            <a:ext cx="1828800" cy="54864"/>
          </a:xfrm>
          <a:prstGeom prst="rect">
            <a:avLst/>
          </a:prstGeom>
          <a:solidFill>
            <a:srgbClr val="B327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02936" y="261518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202936" y="287121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 %,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77440" y="1856232"/>
            <a:ext cx="320040" cy="0"/>
          </a:xfrm>
          <a:prstGeom prst="line">
            <a:avLst/>
          </a:prstGeom>
          <a:noFill/>
          <a:ln w="12700">
            <a:solidFill>
              <a:srgbClr val="B6BDB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1856232"/>
            <a:ext cx="457200" cy="0"/>
          </a:xfrm>
          <a:prstGeom prst="line">
            <a:avLst/>
          </a:prstGeom>
          <a:noFill/>
          <a:ln w="12700">
            <a:solidFill>
              <a:srgbClr val="B6BDB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3720" y="1856232"/>
            <a:ext cx="365760" cy="0"/>
          </a:xfrm>
          <a:prstGeom prst="line">
            <a:avLst/>
          </a:prstGeom>
          <a:noFill/>
          <a:ln w="12700">
            <a:solidFill>
              <a:srgbClr val="B6BDB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03320" y="2249424"/>
            <a:ext cx="0" cy="237744"/>
          </a:xfrm>
          <a:prstGeom prst="line">
            <a:avLst/>
          </a:prstGeom>
          <a:noFill/>
          <a:ln w="12700">
            <a:solidFill>
              <a:srgbClr val="B6BDB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2880360"/>
            <a:ext cx="365760" cy="0"/>
          </a:xfrm>
          <a:prstGeom prst="line">
            <a:avLst/>
          </a:prstGeom>
          <a:noFill/>
          <a:ln w="12700">
            <a:solidFill>
              <a:srgbClr val="B6BDB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456432"/>
            <a:ext cx="82296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8368" y="36027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calculados, nunca almacenados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384048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instalada = Σ (cantidad × potencia kW)     ·     Generación acumulada = Σ generación real     ·     CO₂ evitado = generación × 0.40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409651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Guardarlos como columnas los desincroniza cada vez que cambian los paneles de una granja. El scope conMetricas() los resuelve con subconsultas: 35 granjas con sus métricas en una sola consulta.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 nacional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92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banda de doce meses es el héroe: cada columna es un mes, coloreada con la escala de generación.</a:t>
            </a:r>
            <a:endParaRPr lang="en-US" sz="1300" dirty="0"/>
          </a:p>
        </p:txBody>
      </p:sp>
      <p:pic>
        <p:nvPicPr>
          <p:cNvPr id="4" name="Image 0" descr="c_ban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8229600" cy="23372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8862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escala de color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cinco escalones en el mapa, la tabla y esta banda: el ojo la aprende una vez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3264408" y="38862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tabulares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3264408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cifra con separador de miles y su unidad; GWh sobre el millón de kWh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071616" y="38862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adornos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071616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sombras, sin gradientes, sin tarjetas con ícono. Densidad de consola de operación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RF-11, RF-12 · indicadores nacionales y comparativos por departamento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interactivo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92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35 granjas activas sobre base monocroma, con filtro por departamento y sin recargar la página.</a:t>
            </a:r>
            <a:endParaRPr lang="en-US" sz="1300" dirty="0"/>
          </a:p>
        </p:txBody>
      </p:sp>
      <p:pic>
        <p:nvPicPr>
          <p:cNvPr id="4" name="Image 0" descr="c_ma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4937760" cy="299137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23560" y="148132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por raíz cuadrada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5623560" y="1700784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área del círculo queda proporcional a la capacidad instalada; sin la raíz se exageran las granjas grandes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623560" y="224028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Relleno por quintil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2459736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color codifica generación acumulada, la misma escala del resto del sistema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623560" y="299923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Anillo para la alerta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623560" y="3218688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granja con alerta conserva su color y recibe un anillo carmesí: dato y señal son capas distintas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5623560" y="375818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sin API key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623560" y="3977640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Mosaicos grises de Esri; CARTO pasó a exigir clave y lo detectamos al probarlo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RF-13 · datos servidos por /api/v1/granjas/mapa, no incrustados en la vista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de generación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92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observador evalúa cada registro de generación al guardarlo. La alerta se crea, se actualiza o se retira sola.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6276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real  ≤  80% × generación esperada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197510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vive en config/solar.php, no escrito en el código. Cambiarlo no exige tocar la lógica.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346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borde que el jurado va a probar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127248"/>
            <a:ext cx="3931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31821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1912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alerta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11296"/>
            <a:ext cx="3931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" y="35661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575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alerta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95344"/>
            <a:ext cx="3931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" y="39502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959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genera alerta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315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requisito dice "al menos 20% por debajo", así que el 80% exacto sí alerta. Hay una prueba por cada caso.</a:t>
            </a:r>
            <a:endParaRPr lang="en-US" sz="1000" dirty="0"/>
          </a:p>
        </p:txBody>
      </p:sp>
      <p:pic>
        <p:nvPicPr>
          <p:cNvPr id="18" name="Image 0" descr="c_alert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44752"/>
            <a:ext cx="4023360" cy="163129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663440" y="324612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64608" y="34015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alerta guarda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864608" y="3639312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300"/>
              </a:lnSpc>
              <a:spcAft>
                <a:spcPts val="700"/>
              </a:spcAft>
              <a:buSzPct val="100000"/>
              <a:buChar char="–"/>
            </a:pPr>
            <a:r>
              <a:rPr lang="en-US" sz="100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Granja, período, esperada, real y porcentaje de desviación</a:t>
            </a:r>
            <a:endParaRPr lang="en-US" sz="1000" dirty="0"/>
          </a:p>
          <a:p>
            <a:pPr marL="177800" indent="-177800">
              <a:lnSpc>
                <a:spcPts val="1300"/>
              </a:lnSpc>
              <a:spcAft>
                <a:spcPts val="700"/>
              </a:spcAft>
              <a:buSzPct val="100000"/>
              <a:buChar char="–"/>
            </a:pPr>
            <a:r>
              <a:rPr lang="en-US" sz="100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activa, revisada o resuelta, editable desde el panel</a:t>
            </a:r>
            <a:endParaRPr lang="en-US" sz="1000" dirty="0"/>
          </a:p>
          <a:p>
            <a:pPr marL="177800" indent="-177800">
              <a:lnSpc>
                <a:spcPts val="1300"/>
              </a:lnSpc>
              <a:spcAft>
                <a:spcPts val="700"/>
              </a:spcAft>
              <a:buSzPct val="100000"/>
              <a:buChar char="–"/>
            </a:pPr>
            <a:r>
              <a:rPr lang="en-US" sz="100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Peor que −40% se marca como grave, con su propio color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RF-14 · comando solar:evaluar-alertas reconstruye todo tras una carga masiva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Proyección de generación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92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 por mínimos cuadrados sobre los últimos 12 períodos registrados.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53949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96849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Granja Solar Teculután · kWh por mes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4447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una recta y no un modelo entrenado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1719072"/>
            <a:ext cx="2651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300"/>
              </a:lnSpc>
              <a:spcAft>
                <a:spcPts val="700"/>
              </a:spcAft>
              <a:buSzPct val="100000"/>
              <a:buChar char="–"/>
            </a:pPr>
            <a:r>
              <a:rPr lang="en-US" sz="100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 a dieciocho puntos por granja: un modelo entrenado sobreajusta sin ganar precisión</a:t>
            </a:r>
            <a:endParaRPr lang="en-US" sz="1000" dirty="0"/>
          </a:p>
          <a:p>
            <a:pPr marL="177800" indent="-177800">
              <a:lnSpc>
                <a:spcPts val="1300"/>
              </a:lnSpc>
              <a:spcAft>
                <a:spcPts val="700"/>
              </a:spcAft>
              <a:buSzPct val="100000"/>
              <a:buChar char="–"/>
            </a:pPr>
            <a:r>
              <a:rPr lang="en-US" sz="100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determinista y reproducible, sin dependencias externas</a:t>
            </a:r>
            <a:endParaRPr lang="en-US" sz="1000" dirty="0"/>
          </a:p>
          <a:p>
            <a:pPr marL="177800" indent="-177800">
              <a:lnSpc>
                <a:spcPts val="1300"/>
              </a:lnSpc>
              <a:spcAft>
                <a:spcPts val="700"/>
              </a:spcAft>
              <a:buSzPct val="100000"/>
              <a:buChar char="–"/>
            </a:pPr>
            <a:r>
              <a:rPr lang="en-US" sz="100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pendiente es explicable: son los kWh que la granja gana o pierde cada mes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35040" y="347472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36208" y="362102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50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0.43</a:t>
            </a:r>
            <a:endParaRPr lang="en-US" sz="15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−22,175 kWh por mes</a:t>
            </a:r>
            <a:endParaRPr lang="en-US" sz="15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absoluto medio 25.7%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RF-15 · con menos de 3 períodos cae a promedio; las proyecciones tienen piso en cero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y documentación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92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Trece endpoints de solo lectura bajo /api/v1, documentados desde el propio código con Scramble.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5179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/departamentos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5179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22, con granjas activas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764792"/>
            <a:ext cx="5486400" cy="0"/>
          </a:xfrm>
          <a:prstGeom prst="line">
            <a:avLst/>
          </a:prstGeom>
          <a:noFill/>
          <a:ln w="12700">
            <a:solidFill>
              <a:srgbClr val="DCE0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7830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/departamentos/{id}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78308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con estadísticas agregadas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5486400" cy="0"/>
          </a:xfrm>
          <a:prstGeom prst="line">
            <a:avLst/>
          </a:prstGeom>
          <a:noFill/>
          <a:ln w="12700">
            <a:solidFill>
              <a:srgbClr val="DCE0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0482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/granjas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04825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Paginado; filtros de departamento, estado y nombre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295144"/>
            <a:ext cx="5486400" cy="0"/>
          </a:xfrm>
          <a:prstGeom prst="line">
            <a:avLst/>
          </a:prstGeom>
          <a:noFill/>
          <a:ln w="12700">
            <a:solidFill>
              <a:srgbClr val="DCE0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3134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/granjas/{id}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231343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con sus paneles y métricas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5486400" cy="0"/>
          </a:xfrm>
          <a:prstGeom prst="line">
            <a:avLst/>
          </a:prstGeom>
          <a:noFill/>
          <a:ln w="12700">
            <a:solidFill>
              <a:srgbClr val="DCE0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25786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/granjas/mapa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2578608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liviano que consume el mapa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825496"/>
            <a:ext cx="5486400" cy="0"/>
          </a:xfrm>
          <a:prstGeom prst="line">
            <a:avLst/>
          </a:prstGeom>
          <a:noFill/>
          <a:ln w="12700">
            <a:solidFill>
              <a:srgbClr val="DCE0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28437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/granjas/{id}/generaciones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284378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mensual, con rango de períodos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090672"/>
            <a:ext cx="5486400" cy="0"/>
          </a:xfrm>
          <a:prstGeom prst="line">
            <a:avLst/>
          </a:prstGeom>
          <a:noFill/>
          <a:ln w="12700">
            <a:solidFill>
              <a:srgbClr val="DCE0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31089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/granjas/{id}/proyeccion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017520" y="310896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y precisión histórica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355848"/>
            <a:ext cx="5486400" cy="0"/>
          </a:xfrm>
          <a:prstGeom prst="line">
            <a:avLst/>
          </a:prstGeom>
          <a:noFill/>
          <a:ln w="12700">
            <a:solidFill>
              <a:srgbClr val="DCE0D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" y="33741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/generaciones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3017520" y="33741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Paginado; período, departamento o granja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621024"/>
            <a:ext cx="5486400" cy="0"/>
          </a:xfrm>
          <a:prstGeom prst="line">
            <a:avLst/>
          </a:prstGeom>
          <a:noFill/>
          <a:ln w="12700">
            <a:solidFill>
              <a:srgbClr val="DCE0D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" y="36393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/estadisticas/nacional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363931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 y serie de doce meses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886200"/>
            <a:ext cx="5486400" cy="0"/>
          </a:xfrm>
          <a:prstGeom prst="line">
            <a:avLst/>
          </a:prstGeom>
          <a:noFill/>
          <a:ln w="12700">
            <a:solidFill>
              <a:srgbClr val="DCE0D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" y="39044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/estadisticas/departamentos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3017520" y="3904488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por departamento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151376"/>
            <a:ext cx="5486400" cy="0"/>
          </a:xfrm>
          <a:prstGeom prst="line">
            <a:avLst/>
          </a:prstGeom>
          <a:noFill/>
          <a:ln w="12700">
            <a:solidFill>
              <a:srgbClr val="DCE0D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792" y="41696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5C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/alertas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3017520" y="416966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Paginado; estado y departamento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172200" y="14447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consistentes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172200" y="16642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links y meta en cada listado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172200" y="221284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legibles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172200" y="24323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y 422 en JSON y en español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172200" y="298094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uso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6172200" y="3200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peticiones por minuto por IP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172200" y="374904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viva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6172200" y="39684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/docs/api navegable y docs/API.md de respaldo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RF-16 · el esquema OpenAPI se genera leyendo los controladores, así que no se desactualiza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usamos la inteligencia artificial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92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como acelerador, con el criterio técnico del equipo por delante.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572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decidimos nosotros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10512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esquema de base de datos y la regla de no almacenar valores derivados</a:t>
            </a:r>
            <a:endParaRPr lang="en-US" sz="105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stack: Filament para capturar, Blade propio para analizar</a:t>
            </a:r>
            <a:endParaRPr lang="en-US" sz="105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de proyección y sus salvaguardas</a:t>
            </a:r>
            <a:endParaRPr lang="en-US" sz="105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80% exacto como caso que sí alerta</a:t>
            </a:r>
            <a:endParaRPr lang="en-US" sz="105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diseño completo, escrito antes de programar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9319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56048" y="1572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tuvimos que corregirle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56048" y="1810512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mosaicos de CARTO ya exigen API key: lo descubrimos al probar, no al leer</a:t>
            </a:r>
            <a:endParaRPr lang="en-US" sz="105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limitador de peticiones no venía definido y la API entera respondía 500</a:t>
            </a:r>
            <a:endParaRPr lang="en-US" sz="105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parámetro opcional sin valor lanzaba excepción en la proyección</a:t>
            </a:r>
            <a:endParaRPr lang="en-US" sz="105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regresión tomaba los 12 períodos más antiguos por el orden de la relación</a:t>
            </a:r>
            <a:endParaRPr lang="en-US" sz="105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Filament mostraba 414.432 en vez de 414,432 por el locale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se ejecutó antes de darlo por bueno. El detalle completo está en docs/USO-DE-IA.md.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128016"/>
          </a:xfrm>
          <a:prstGeom prst="rect">
            <a:avLst/>
          </a:prstGeom>
          <a:solidFill>
            <a:srgbClr val="EFE7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57200"/>
            <a:ext cx="457200" cy="128016"/>
          </a:xfrm>
          <a:prstGeom prst="rect">
            <a:avLst/>
          </a:prstGeom>
          <a:solidFill>
            <a:srgbClr val="E0C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457200"/>
            <a:ext cx="457200" cy="128016"/>
          </a:xfrm>
          <a:prstGeom prst="rect">
            <a:avLst/>
          </a:prstGeom>
          <a:solidFill>
            <a:srgbClr val="CFAC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457200"/>
            <a:ext cx="457200" cy="128016"/>
          </a:xfrm>
          <a:prstGeom prst="rect">
            <a:avLst/>
          </a:prstGeom>
          <a:solidFill>
            <a:srgbClr val="A98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457200"/>
            <a:ext cx="457200" cy="128016"/>
          </a:xfrm>
          <a:prstGeom prst="rect">
            <a:avLst/>
          </a:prstGeom>
          <a:solidFill>
            <a:srgbClr val="7559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84124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sistema, en números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002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C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0025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granjas activas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64408" y="16002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C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260,191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264408" y="20025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71616" y="16002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C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145.5 MW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071616" y="20025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5146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C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309 GWh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9169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64408" y="25146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C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101,398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264408" y="29169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071616" y="25146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C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123,613 t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071616" y="29169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evitado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8229600" cy="0"/>
          </a:xfrm>
          <a:prstGeom prst="line">
            <a:avLst/>
          </a:prstGeom>
          <a:noFill/>
          <a:ln w="12700">
            <a:solidFill>
              <a:srgbClr val="5A65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7033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26080" y="3703320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C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generacion-solar-production-gtqero.laravel.cloud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0142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926080" y="4014216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C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github.com/Nehemiasp/generacion-solar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3251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la API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926080" y="432511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C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generacion-solar-production-gtqero.laravel.cloud/docs/api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Generación solar por departamento</dc:title>
  <dc:subject>PptxGenJS Presentation</dc:subject>
  <dc:creator>Equipo de desarrollo</dc:creator>
  <cp:lastModifiedBy>Equipo de desarrollo</cp:lastModifiedBy>
  <cp:revision>1</cp:revision>
  <dcterms:created xsi:type="dcterms:W3CDTF">2026-09-12T03:49:18Z</dcterms:created>
  <dcterms:modified xsi:type="dcterms:W3CDTF">2026-09-12T03:49:18Z</dcterms:modified>
</cp:coreProperties>
</file>